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DD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2B765-B879-1689-3204-5F242968B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90BF7C-79C3-9267-20B4-D5118B9D0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CC7422-5801-B320-C90C-A9792360A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477E-D8EC-4D41-8854-DFD13222738A}" type="datetimeFigureOut">
              <a:rPr lang="es-PE" smtClean="0"/>
              <a:t>13/07/2025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E870E0-3783-AA78-A2C0-D18E55D8A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2E4CC9-005B-E210-3F01-0E70DDCF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0ED-545D-4360-9368-B266E3D3CA9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5446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F62CF-306C-B9BD-A0E8-1E6E24739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069804-D35A-5F70-4E3B-1940BAADB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0AAEE2-67E0-6E2A-DB11-8291792C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477E-D8EC-4D41-8854-DFD13222738A}" type="datetimeFigureOut">
              <a:rPr lang="es-PE" smtClean="0"/>
              <a:t>13/07/2025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5F36E3-9A5B-2F68-21A1-C183EC244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FDA30B-5F8C-33EF-3550-B2EBC8E3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0ED-545D-4360-9368-B266E3D3CA9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61468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012046-A69B-27DB-77D7-82DAA42C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F2F947-60ED-2894-4A9B-C3AAD3189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1B89AF-2A9A-E1C3-B199-10291F2FF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477E-D8EC-4D41-8854-DFD13222738A}" type="datetimeFigureOut">
              <a:rPr lang="es-PE" smtClean="0"/>
              <a:t>13/07/2025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42206B-10FE-D040-8AAF-CEA109361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00F862-168C-3ECA-2844-D061BF66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0ED-545D-4360-9368-B266E3D3CA9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4220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42B9BA-29D0-7E94-5380-E6655B71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0F50C0-B9A1-2B2D-BD22-C3AC59583A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521913-C3E7-E945-5AF1-0F4CF2AAA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E150F8-DAD4-3ADF-87C6-A938658C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477E-D8EC-4D41-8854-DFD13222738A}" type="datetimeFigureOut">
              <a:rPr lang="es-PE" smtClean="0"/>
              <a:t>13/07/2025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48C8EC-A26F-C86C-5A53-309B7D630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28CDD86-052A-1FB1-02D4-94AB19489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0ED-545D-4360-9368-B266E3D3CA9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5573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B7067-94DB-4E98-753E-FBAED4619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0F4AAA-EDFC-4B73-897A-F7D53805D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1DA1A0-DE83-EAAD-0CAD-83137A865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814203C-893C-003E-611C-7E8B3CC95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2C9A29-22CA-4A12-3438-001C419F2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3B6E1FD-9E88-E1C8-AE63-AD69B189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477E-D8EC-4D41-8854-DFD13222738A}" type="datetimeFigureOut">
              <a:rPr lang="es-PE" smtClean="0"/>
              <a:t>13/07/2025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E08107-4633-38DF-A7C1-4CDA2B07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1027052-A9D1-0B4D-8A9A-4DEC11B9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0ED-545D-4360-9368-B266E3D3CA9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84105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14F63-7779-29BA-2E56-CE29474E8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EC06FC6-1BA4-64F2-1302-EE23A0755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477E-D8EC-4D41-8854-DFD13222738A}" type="datetimeFigureOut">
              <a:rPr lang="es-PE" smtClean="0"/>
              <a:t>13/07/2025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B80812-6E4B-1F9A-59CA-F19A32F6C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667D664-A11D-BB2F-8F28-D13CB95F0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0ED-545D-4360-9368-B266E3D3CA9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9925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3C833D3-1AED-C4C1-5F85-E5B52454C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477E-D8EC-4D41-8854-DFD13222738A}" type="datetimeFigureOut">
              <a:rPr lang="es-PE" smtClean="0"/>
              <a:t>13/07/2025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AD09E8-3D25-625B-0E60-3F41B2610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AC4F40-B4DF-9C67-F50A-498C7EF3E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0ED-545D-4360-9368-B266E3D3CA9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19149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73F00-297F-514C-BEC6-E487BB8D8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D26104-ACAA-91FE-6537-3367F654B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EE9CFE8-ECA0-0CDA-5AE7-C81A36FF7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1DC3E6-1ABD-E0FB-043E-48F539D55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477E-D8EC-4D41-8854-DFD13222738A}" type="datetimeFigureOut">
              <a:rPr lang="es-PE" smtClean="0"/>
              <a:t>13/07/2025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A5EADC-C583-BBEF-1D4D-35B6FDEF7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20C10AC-D7E7-ED45-8B36-53B1B17B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0ED-545D-4360-9368-B266E3D3CA9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9298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11158-1ED0-DE6D-6EAC-F90095515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7E977B9-4CD5-D030-772C-C3F0B33C74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739CCF-9001-FF91-FB79-EAB1C3398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C5EB47-1252-20F6-ED51-012F3D1A7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477E-D8EC-4D41-8854-DFD13222738A}" type="datetimeFigureOut">
              <a:rPr lang="es-PE" smtClean="0"/>
              <a:t>13/07/2025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26E492-F35D-2ABA-E4EB-2629B6EF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C5824-2DF5-2CD6-22FC-865B3E2E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0ED-545D-4360-9368-B266E3D3CA9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211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41CE51-9232-DA1B-D4FA-61A1BBA2F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16DD142-C6CC-47C0-A346-5837F56C6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97904F-F3B2-01CF-0EA5-47058298B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477E-D8EC-4D41-8854-DFD13222738A}" type="datetimeFigureOut">
              <a:rPr lang="es-PE" smtClean="0"/>
              <a:t>13/07/2025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5F358C-C5C3-4F5E-4413-273524BA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18A6EC-804A-4DBF-67D2-BEA610C49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0ED-545D-4360-9368-B266E3D3CA9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8077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5211F5-C923-566A-02A9-51249198D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DA7E7C-0225-010D-8676-9049E457E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4FC70C-D7B5-3FD2-5852-85F78E446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477E-D8EC-4D41-8854-DFD13222738A}" type="datetimeFigureOut">
              <a:rPr lang="es-PE" smtClean="0"/>
              <a:t>13/07/2025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B4FEE1-D3DD-37CA-76A7-7611CF2CD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36F862-D7B3-F274-D04A-E528547E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0ED-545D-4360-9368-B266E3D3CA9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4785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B14EBD7-ECAA-0CCC-7F63-80E34585D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5D5797-FC3B-7188-0963-A43F8445B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9126A5-3A03-F0FA-F060-7F11619340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06477E-D8EC-4D41-8854-DFD13222738A}" type="datetimeFigureOut">
              <a:rPr lang="es-PE" smtClean="0"/>
              <a:t>13/07/2025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64EC51-6256-DD05-B966-71BD7899F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2EE863-BB73-FAA3-B247-33AED5069C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B820ED-545D-4360-9368-B266E3D3CA9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1563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4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2.w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22.bin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32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1DD34-11A4-30DA-234A-F315715BA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EXAMEN FINAL</a:t>
            </a:r>
            <a:br>
              <a:rPr lang="es-PE" dirty="0"/>
            </a:br>
            <a:r>
              <a:rPr lang="es-PE" dirty="0"/>
              <a:t>FÍSICA I PARA INGENIERÍA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69B0D7-9D80-E767-5BDC-AA1D29E63C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UNIVERSIDAD CIENTÍFICA DEL SUR</a:t>
            </a:r>
          </a:p>
          <a:p>
            <a:r>
              <a:rPr lang="es-PE" dirty="0"/>
              <a:t>CICLO 2025 – 1</a:t>
            </a:r>
          </a:p>
        </p:txBody>
      </p:sp>
    </p:spTree>
    <p:extLst>
      <p:ext uri="{BB962C8B-B14F-4D97-AF65-F5344CB8AC3E}">
        <p14:creationId xmlns:p14="http://schemas.microsoft.com/office/powerpoint/2010/main" val="16848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0EE02C-5CF2-C6B9-8C63-ED540B9E6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976" y="1653598"/>
            <a:ext cx="5920047" cy="1325563"/>
          </a:xfrm>
        </p:spPr>
        <p:txBody>
          <a:bodyPr/>
          <a:lstStyle/>
          <a:p>
            <a:r>
              <a:rPr lang="es-PE" dirty="0"/>
              <a:t>Presión en manómetros </a:t>
            </a:r>
          </a:p>
        </p:txBody>
      </p:sp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A9552267-D4C7-D607-C3C1-B1789205D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728" y="3333606"/>
            <a:ext cx="1691918" cy="1870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7254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9A7CEE0-0E32-6D8C-014C-A9645990D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059855" cy="2809702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8FAB840D-8968-FFA9-4913-C3535D17297A}"/>
              </a:ext>
            </a:extLst>
          </p:cNvPr>
          <p:cNvCxnSpPr>
            <a:cxnSpLocks/>
          </p:cNvCxnSpPr>
          <p:nvPr/>
        </p:nvCxnSpPr>
        <p:spPr>
          <a:xfrm>
            <a:off x="7281949" y="1886990"/>
            <a:ext cx="24273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833F4D0C-7350-286B-978E-72E69BE70022}"/>
              </a:ext>
            </a:extLst>
          </p:cNvPr>
          <p:cNvSpPr txBox="1"/>
          <p:nvPr/>
        </p:nvSpPr>
        <p:spPr>
          <a:xfrm>
            <a:off x="9709266" y="1702324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NR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EF81F64-6E73-307A-9136-9B2068711860}"/>
              </a:ext>
            </a:extLst>
          </p:cNvPr>
          <p:cNvSpPr/>
          <p:nvPr/>
        </p:nvSpPr>
        <p:spPr>
          <a:xfrm>
            <a:off x="7680960" y="1850988"/>
            <a:ext cx="72000" cy="72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A659AC9-60C2-F8ED-477A-6E5CCAA30EF5}"/>
              </a:ext>
            </a:extLst>
          </p:cNvPr>
          <p:cNvSpPr/>
          <p:nvPr/>
        </p:nvSpPr>
        <p:spPr>
          <a:xfrm>
            <a:off x="8711738" y="1850988"/>
            <a:ext cx="72000" cy="72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C13F354-B642-6F2F-EC15-38EFECAF53AC}"/>
              </a:ext>
            </a:extLst>
          </p:cNvPr>
          <p:cNvSpPr txBox="1"/>
          <p:nvPr/>
        </p:nvSpPr>
        <p:spPr>
          <a:xfrm>
            <a:off x="7562911" y="188698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0412042-02D6-9139-1219-50A2F16EAB26}"/>
              </a:ext>
            </a:extLst>
          </p:cNvPr>
          <p:cNvSpPr txBox="1"/>
          <p:nvPr/>
        </p:nvSpPr>
        <p:spPr>
          <a:xfrm>
            <a:off x="8656732" y="185098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2</a:t>
            </a:r>
          </a:p>
        </p:txBody>
      </p:sp>
      <p:graphicFrame>
        <p:nvGraphicFramePr>
          <p:cNvPr id="13" name="Objeto 12">
            <a:extLst>
              <a:ext uri="{FF2B5EF4-FFF2-40B4-BE49-F238E27FC236}">
                <a16:creationId xmlns:a16="http://schemas.microsoft.com/office/drawing/2014/main" id="{4EE74BB0-98DA-A43F-F98A-A6F45B9166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470975"/>
              </p:ext>
            </p:extLst>
          </p:nvPr>
        </p:nvGraphicFramePr>
        <p:xfrm>
          <a:off x="512075" y="2071654"/>
          <a:ext cx="4438650" cy="224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12720" imgH="1218960" progId="Equation.DSMT4">
                  <p:embed/>
                </p:oleObj>
              </mc:Choice>
              <mc:Fallback>
                <p:oleObj name="Equation" r:id="rId3" imgW="2412720" imgH="1218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2075" y="2071654"/>
                        <a:ext cx="4438650" cy="2243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8903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36FEE1F-47AB-73E4-FEEA-AB88383EA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96" y="148244"/>
            <a:ext cx="4676602" cy="3882462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F465B05-CE36-9157-A879-83A019BA05A6}"/>
              </a:ext>
            </a:extLst>
          </p:cNvPr>
          <p:cNvCxnSpPr>
            <a:cxnSpLocks/>
          </p:cNvCxnSpPr>
          <p:nvPr/>
        </p:nvCxnSpPr>
        <p:spPr>
          <a:xfrm>
            <a:off x="2535381" y="3429000"/>
            <a:ext cx="24273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C152C815-DB04-581B-D44B-17E7565E9E93}"/>
              </a:ext>
            </a:extLst>
          </p:cNvPr>
          <p:cNvSpPr txBox="1"/>
          <p:nvPr/>
        </p:nvSpPr>
        <p:spPr>
          <a:xfrm>
            <a:off x="4962698" y="3244334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NR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0C6DB67-180E-D314-8D55-6010199299D7}"/>
              </a:ext>
            </a:extLst>
          </p:cNvPr>
          <p:cNvSpPr/>
          <p:nvPr/>
        </p:nvSpPr>
        <p:spPr>
          <a:xfrm>
            <a:off x="2926079" y="3395748"/>
            <a:ext cx="72000" cy="72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F870483-4BF8-71B5-2D1C-F8645CED014B}"/>
              </a:ext>
            </a:extLst>
          </p:cNvPr>
          <p:cNvSpPr txBox="1"/>
          <p:nvPr/>
        </p:nvSpPr>
        <p:spPr>
          <a:xfrm>
            <a:off x="2808030" y="3431748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248C07-6D18-775F-117B-E17E882E8862}"/>
              </a:ext>
            </a:extLst>
          </p:cNvPr>
          <p:cNvSpPr txBox="1"/>
          <p:nvPr/>
        </p:nvSpPr>
        <p:spPr>
          <a:xfrm>
            <a:off x="3849364" y="339300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B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3EC4971-9937-218E-CDCF-3DC5F3A575C9}"/>
              </a:ext>
            </a:extLst>
          </p:cNvPr>
          <p:cNvSpPr/>
          <p:nvPr/>
        </p:nvSpPr>
        <p:spPr>
          <a:xfrm>
            <a:off x="3967413" y="3393000"/>
            <a:ext cx="72000" cy="72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77849F78-501B-0DC5-0A85-586F509047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5557562"/>
              </p:ext>
            </p:extLst>
          </p:nvPr>
        </p:nvGraphicFramePr>
        <p:xfrm>
          <a:off x="6239538" y="1022032"/>
          <a:ext cx="5084763" cy="378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27200" imgH="1879560" progId="Equation.DSMT4">
                  <p:embed/>
                </p:oleObj>
              </mc:Choice>
              <mc:Fallback>
                <p:oleObj name="Equation" r:id="rId3" imgW="2527200" imgH="1879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39538" y="1022032"/>
                        <a:ext cx="5084763" cy="3783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35DD05E-1FEB-4C1D-8955-6BB1D656285D}"/>
              </a:ext>
            </a:extLst>
          </p:cNvPr>
          <p:cNvCxnSpPr/>
          <p:nvPr/>
        </p:nvCxnSpPr>
        <p:spPr>
          <a:xfrm flipH="1">
            <a:off x="7589520" y="4030706"/>
            <a:ext cx="207818" cy="3501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5D804C4-7BE3-CA1A-9C66-A3DB0889D3FB}"/>
              </a:ext>
            </a:extLst>
          </p:cNvPr>
          <p:cNvCxnSpPr/>
          <p:nvPr/>
        </p:nvCxnSpPr>
        <p:spPr>
          <a:xfrm flipH="1">
            <a:off x="7460672" y="4483699"/>
            <a:ext cx="207818" cy="3501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532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AC16487-1911-75E8-4F30-231882080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82" y="71696"/>
            <a:ext cx="7171846" cy="4957497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B58A923-DC9D-EB8E-A82F-091D7E23EBB1}"/>
              </a:ext>
            </a:extLst>
          </p:cNvPr>
          <p:cNvCxnSpPr>
            <a:cxnSpLocks/>
          </p:cNvCxnSpPr>
          <p:nvPr/>
        </p:nvCxnSpPr>
        <p:spPr>
          <a:xfrm>
            <a:off x="3566159" y="4110644"/>
            <a:ext cx="24273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A925DF1-18EA-47EB-78F5-73C0170F956F}"/>
              </a:ext>
            </a:extLst>
          </p:cNvPr>
          <p:cNvSpPr txBox="1"/>
          <p:nvPr/>
        </p:nvSpPr>
        <p:spPr>
          <a:xfrm>
            <a:off x="5993476" y="3925978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NR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F346233-9EEA-7C99-85BC-1B28F758044D}"/>
              </a:ext>
            </a:extLst>
          </p:cNvPr>
          <p:cNvSpPr/>
          <p:nvPr/>
        </p:nvSpPr>
        <p:spPr>
          <a:xfrm>
            <a:off x="3956857" y="4077392"/>
            <a:ext cx="72000" cy="72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4664BE9-7B93-EF43-EB42-BB942F2E74B3}"/>
              </a:ext>
            </a:extLst>
          </p:cNvPr>
          <p:cNvSpPr txBox="1"/>
          <p:nvPr/>
        </p:nvSpPr>
        <p:spPr>
          <a:xfrm>
            <a:off x="3838808" y="411339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78272EE-FC0F-A048-B300-D3BF2BFB8E0F}"/>
              </a:ext>
            </a:extLst>
          </p:cNvPr>
          <p:cNvSpPr txBox="1"/>
          <p:nvPr/>
        </p:nvSpPr>
        <p:spPr>
          <a:xfrm>
            <a:off x="4456351" y="411339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B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00638B6-4E4C-58B4-E2F5-64EDB5BCEF4A}"/>
              </a:ext>
            </a:extLst>
          </p:cNvPr>
          <p:cNvSpPr/>
          <p:nvPr/>
        </p:nvSpPr>
        <p:spPr>
          <a:xfrm>
            <a:off x="4546415" y="4077392"/>
            <a:ext cx="72000" cy="72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B188AC36-C98D-3319-2A05-31E2548376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295024"/>
              </p:ext>
            </p:extLst>
          </p:nvPr>
        </p:nvGraphicFramePr>
        <p:xfrm>
          <a:off x="6552681" y="2666346"/>
          <a:ext cx="5413213" cy="2595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25880" imgH="1930320" progId="Equation.DSMT4">
                  <p:embed/>
                </p:oleObj>
              </mc:Choice>
              <mc:Fallback>
                <p:oleObj name="Equation" r:id="rId3" imgW="4025880" imgH="1930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52681" y="2666346"/>
                        <a:ext cx="5413213" cy="2595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7606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A49AA-E8F2-36E3-43E1-0ED7ACF6C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941" y="1520594"/>
            <a:ext cx="6418811" cy="1325563"/>
          </a:xfrm>
        </p:spPr>
        <p:txBody>
          <a:bodyPr/>
          <a:lstStyle/>
          <a:p>
            <a:r>
              <a:rPr lang="es-PE" dirty="0"/>
              <a:t>Principio de Arquímedes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B08375E-6FD3-7325-8340-1D8439A85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009" y="2846157"/>
            <a:ext cx="687705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243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A0C6B40E-CCA5-9984-3B9A-700E1C5E158F}"/>
              </a:ext>
            </a:extLst>
          </p:cNvPr>
          <p:cNvSpPr/>
          <p:nvPr/>
        </p:nvSpPr>
        <p:spPr>
          <a:xfrm>
            <a:off x="6096000" y="1055717"/>
            <a:ext cx="739832" cy="839585"/>
          </a:xfrm>
          <a:prstGeom prst="rect">
            <a:avLst/>
          </a:prstGeom>
          <a:solidFill>
            <a:srgbClr val="E6DD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F8AA27E-9FCB-EEA1-A0FC-F46B20020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28705" cy="5438842"/>
          </a:xfrm>
          <a:prstGeom prst="rect">
            <a:avLst/>
          </a:prstGeom>
        </p:spPr>
      </p:pic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162E6A18-F05E-88D5-C2E4-312E735FF0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5135727"/>
              </p:ext>
            </p:extLst>
          </p:nvPr>
        </p:nvGraphicFramePr>
        <p:xfrm>
          <a:off x="782203" y="5605097"/>
          <a:ext cx="2779590" cy="920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17360" imgH="634680" progId="Equation.DSMT4">
                  <p:embed/>
                </p:oleObj>
              </mc:Choice>
              <mc:Fallback>
                <p:oleObj name="Equation" r:id="rId3" imgW="191736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2203" y="5605097"/>
                        <a:ext cx="2779590" cy="9203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0AB92B5-3AF5-9312-0F59-9A5F7944EDB6}"/>
              </a:ext>
            </a:extLst>
          </p:cNvPr>
          <p:cNvCxnSpPr>
            <a:cxnSpLocks/>
          </p:cNvCxnSpPr>
          <p:nvPr/>
        </p:nvCxnSpPr>
        <p:spPr>
          <a:xfrm flipV="1">
            <a:off x="6229003" y="1661040"/>
            <a:ext cx="0" cy="4322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0E8C030-C9D2-E7D4-A49C-1BB81BF0F3A4}"/>
              </a:ext>
            </a:extLst>
          </p:cNvPr>
          <p:cNvCxnSpPr>
            <a:cxnSpLocks/>
          </p:cNvCxnSpPr>
          <p:nvPr/>
        </p:nvCxnSpPr>
        <p:spPr>
          <a:xfrm flipV="1">
            <a:off x="6281650" y="991866"/>
            <a:ext cx="0" cy="4322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9E1551C3-2FD4-E272-89B6-F4EFB913B1E2}"/>
              </a:ext>
            </a:extLst>
          </p:cNvPr>
          <p:cNvCxnSpPr/>
          <p:nvPr/>
        </p:nvCxnSpPr>
        <p:spPr>
          <a:xfrm>
            <a:off x="6482542" y="1636102"/>
            <a:ext cx="0" cy="4322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6C2D3FC-23B1-20F4-E24F-34CD5D85484E}"/>
              </a:ext>
            </a:extLst>
          </p:cNvPr>
          <p:cNvSpPr txBox="1"/>
          <p:nvPr/>
        </p:nvSpPr>
        <p:spPr>
          <a:xfrm>
            <a:off x="5162204" y="2157736"/>
            <a:ext cx="1478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Empuje agua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340FB6D-5A3C-98A8-CA8E-2DBF523A0CD1}"/>
              </a:ext>
            </a:extLst>
          </p:cNvPr>
          <p:cNvSpPr txBox="1"/>
          <p:nvPr/>
        </p:nvSpPr>
        <p:spPr>
          <a:xfrm>
            <a:off x="5356855" y="739833"/>
            <a:ext cx="1608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Empuje aceite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A7B9965-D3C6-BD9A-D2A5-33048840554D}"/>
              </a:ext>
            </a:extLst>
          </p:cNvPr>
          <p:cNvSpPr txBox="1"/>
          <p:nvPr/>
        </p:nvSpPr>
        <p:spPr>
          <a:xfrm>
            <a:off x="6498239" y="1918694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peso</a:t>
            </a:r>
          </a:p>
        </p:txBody>
      </p:sp>
      <p:graphicFrame>
        <p:nvGraphicFramePr>
          <p:cNvPr id="17" name="Objeto 16">
            <a:extLst>
              <a:ext uri="{FF2B5EF4-FFF2-40B4-BE49-F238E27FC236}">
                <a16:creationId xmlns:a16="http://schemas.microsoft.com/office/drawing/2014/main" id="{9793770B-CC8F-14B4-FD93-9CD8EBBDB8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529940"/>
              </p:ext>
            </p:extLst>
          </p:nvPr>
        </p:nvGraphicFramePr>
        <p:xfrm>
          <a:off x="7877926" y="316429"/>
          <a:ext cx="2880332" cy="608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3000" imgH="241200" progId="Equation.DSMT4">
                  <p:embed/>
                </p:oleObj>
              </mc:Choice>
              <mc:Fallback>
                <p:oleObj name="Equation" r:id="rId5" imgW="1143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77926" y="316429"/>
                        <a:ext cx="2880332" cy="608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8DD3D761-F0B9-183C-FBEF-7D9F4AED76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124634"/>
              </p:ext>
            </p:extLst>
          </p:nvPr>
        </p:nvGraphicFramePr>
        <p:xfrm>
          <a:off x="7551185" y="1198526"/>
          <a:ext cx="4096985" cy="860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9800" imgH="533160" progId="Equation.DSMT4">
                  <p:embed/>
                </p:oleObj>
              </mc:Choice>
              <mc:Fallback>
                <p:oleObj name="Equation" r:id="rId7" imgW="253980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51185" y="1198526"/>
                        <a:ext cx="4096985" cy="8603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8">
            <a:extLst>
              <a:ext uri="{FF2B5EF4-FFF2-40B4-BE49-F238E27FC236}">
                <a16:creationId xmlns:a16="http://schemas.microsoft.com/office/drawing/2014/main" id="{4F8461F8-2876-701C-A16B-F1871BF980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829394"/>
              </p:ext>
            </p:extLst>
          </p:nvPr>
        </p:nvGraphicFramePr>
        <p:xfrm>
          <a:off x="7500938" y="2308225"/>
          <a:ext cx="419735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03160" imgH="507960" progId="Equation.DSMT4">
                  <p:embed/>
                </p:oleObj>
              </mc:Choice>
              <mc:Fallback>
                <p:oleObj name="Equation" r:id="rId9" imgW="2603160" imgH="507960" progId="Equation.DSMT4">
                  <p:embed/>
                  <p:pic>
                    <p:nvPicPr>
                      <p:cNvPr id="18" name="Objeto 17">
                        <a:extLst>
                          <a:ext uri="{FF2B5EF4-FFF2-40B4-BE49-F238E27FC236}">
                            <a16:creationId xmlns:a16="http://schemas.microsoft.com/office/drawing/2014/main" id="{8DD3D761-F0B9-183C-FBEF-7D9F4AED76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00938" y="2308225"/>
                        <a:ext cx="4197350" cy="820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o 19">
            <a:extLst>
              <a:ext uri="{FF2B5EF4-FFF2-40B4-BE49-F238E27FC236}">
                <a16:creationId xmlns:a16="http://schemas.microsoft.com/office/drawing/2014/main" id="{CA79B812-C9CD-0DB5-2306-CE4F478D66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542042"/>
              </p:ext>
            </p:extLst>
          </p:nvPr>
        </p:nvGraphicFramePr>
        <p:xfrm>
          <a:off x="7551185" y="3504594"/>
          <a:ext cx="2175048" cy="772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58640" imgH="482400" progId="Equation.DSMT4">
                  <p:embed/>
                </p:oleObj>
              </mc:Choice>
              <mc:Fallback>
                <p:oleObj name="Equation" r:id="rId11" imgW="1358640" imgH="482400" progId="Equation.DSMT4">
                  <p:embed/>
                  <p:pic>
                    <p:nvPicPr>
                      <p:cNvPr id="17" name="Objeto 16">
                        <a:extLst>
                          <a:ext uri="{FF2B5EF4-FFF2-40B4-BE49-F238E27FC236}">
                            <a16:creationId xmlns:a16="http://schemas.microsoft.com/office/drawing/2014/main" id="{9793770B-CC8F-14B4-FD93-9CD8EBBDB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51185" y="3504594"/>
                        <a:ext cx="2175048" cy="7727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Elipse 20">
            <a:extLst>
              <a:ext uri="{FF2B5EF4-FFF2-40B4-BE49-F238E27FC236}">
                <a16:creationId xmlns:a16="http://schemas.microsoft.com/office/drawing/2014/main" id="{2D3F5A81-71E2-DB55-8DA7-1B9C54EB4E6B}"/>
              </a:ext>
            </a:extLst>
          </p:cNvPr>
          <p:cNvSpPr/>
          <p:nvPr/>
        </p:nvSpPr>
        <p:spPr>
          <a:xfrm>
            <a:off x="2834639" y="4239953"/>
            <a:ext cx="66502" cy="748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2B9AE2F-1B85-B844-BD46-6912605772FE}"/>
              </a:ext>
            </a:extLst>
          </p:cNvPr>
          <p:cNvSpPr txBox="1"/>
          <p:nvPr/>
        </p:nvSpPr>
        <p:spPr>
          <a:xfrm>
            <a:off x="2603267" y="413010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p</a:t>
            </a:r>
          </a:p>
        </p:txBody>
      </p:sp>
      <p:graphicFrame>
        <p:nvGraphicFramePr>
          <p:cNvPr id="23" name="Objeto 22">
            <a:extLst>
              <a:ext uri="{FF2B5EF4-FFF2-40B4-BE49-F238E27FC236}">
                <a16:creationId xmlns:a16="http://schemas.microsoft.com/office/drawing/2014/main" id="{8EAF9C5A-6D1F-3048-5D85-C73F8FF418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306756"/>
              </p:ext>
            </p:extLst>
          </p:nvPr>
        </p:nvGraphicFramePr>
        <p:xfrm>
          <a:off x="7551183" y="4499433"/>
          <a:ext cx="4366433" cy="110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58840" imgH="749160" progId="Equation.DSMT4">
                  <p:embed/>
                </p:oleObj>
              </mc:Choice>
              <mc:Fallback>
                <p:oleObj name="Equation" r:id="rId13" imgW="295884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551183" y="4499433"/>
                        <a:ext cx="4366433" cy="1105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8345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bo 3">
            <a:extLst>
              <a:ext uri="{FF2B5EF4-FFF2-40B4-BE49-F238E27FC236}">
                <a16:creationId xmlns:a16="http://schemas.microsoft.com/office/drawing/2014/main" id="{B3381F77-053D-7CE7-47D4-7E537E956F66}"/>
              </a:ext>
            </a:extLst>
          </p:cNvPr>
          <p:cNvSpPr/>
          <p:nvPr/>
        </p:nvSpPr>
        <p:spPr>
          <a:xfrm>
            <a:off x="2352502" y="2369127"/>
            <a:ext cx="2718262" cy="2427317"/>
          </a:xfrm>
          <a:prstGeom prst="cube">
            <a:avLst>
              <a:gd name="adj" fmla="val 31164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F943664-4133-9FCE-F45E-B6D2D799BA0A}"/>
              </a:ext>
            </a:extLst>
          </p:cNvPr>
          <p:cNvSpPr txBox="1"/>
          <p:nvPr/>
        </p:nvSpPr>
        <p:spPr>
          <a:xfrm>
            <a:off x="2967644" y="4796444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/>
              <a:t>0.1 m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12206CE-0ABD-A85D-3FFA-4EDB32192536}"/>
              </a:ext>
            </a:extLst>
          </p:cNvPr>
          <p:cNvSpPr txBox="1"/>
          <p:nvPr/>
        </p:nvSpPr>
        <p:spPr>
          <a:xfrm rot="18668780">
            <a:off x="4580313" y="4281056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/>
              <a:t>0.1 m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E6FB67A-1BB2-B895-97CA-54C27A0A2A23}"/>
              </a:ext>
            </a:extLst>
          </p:cNvPr>
          <p:cNvSpPr txBox="1"/>
          <p:nvPr/>
        </p:nvSpPr>
        <p:spPr>
          <a:xfrm>
            <a:off x="5041213" y="2953421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/>
              <a:t>0.08 m</a:t>
            </a:r>
          </a:p>
        </p:txBody>
      </p:sp>
      <p:sp>
        <p:nvSpPr>
          <p:cNvPr id="8" name="Paralelogramo 7">
            <a:extLst>
              <a:ext uri="{FF2B5EF4-FFF2-40B4-BE49-F238E27FC236}">
                <a16:creationId xmlns:a16="http://schemas.microsoft.com/office/drawing/2014/main" id="{1BA6A31F-220E-5BAA-8DFA-E8CC78E8AD13}"/>
              </a:ext>
            </a:extLst>
          </p:cNvPr>
          <p:cNvSpPr/>
          <p:nvPr/>
        </p:nvSpPr>
        <p:spPr>
          <a:xfrm>
            <a:off x="6512162" y="3244300"/>
            <a:ext cx="2718262" cy="773083"/>
          </a:xfrm>
          <a:prstGeom prst="parallelogram">
            <a:avLst>
              <a:gd name="adj" fmla="val 876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E17B4630-9A66-93EC-C9DD-42CCA38C60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734020"/>
              </p:ext>
            </p:extLst>
          </p:nvPr>
        </p:nvGraphicFramePr>
        <p:xfrm>
          <a:off x="1241491" y="5133146"/>
          <a:ext cx="4940284" cy="876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74640" imgH="279360" progId="Equation.DSMT4">
                  <p:embed/>
                </p:oleObj>
              </mc:Choice>
              <mc:Fallback>
                <p:oleObj name="Equation" r:id="rId2" imgW="1574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41491" y="5133146"/>
                        <a:ext cx="4940284" cy="8765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ubo 9">
            <a:extLst>
              <a:ext uri="{FF2B5EF4-FFF2-40B4-BE49-F238E27FC236}">
                <a16:creationId xmlns:a16="http://schemas.microsoft.com/office/drawing/2014/main" id="{18CCD561-A94E-7339-9FB6-5208FCBED5CB}"/>
              </a:ext>
            </a:extLst>
          </p:cNvPr>
          <p:cNvSpPr/>
          <p:nvPr/>
        </p:nvSpPr>
        <p:spPr>
          <a:xfrm>
            <a:off x="5893723" y="2236124"/>
            <a:ext cx="2718262" cy="615142"/>
          </a:xfrm>
          <a:prstGeom prst="cube">
            <a:avLst>
              <a:gd name="adj" fmla="val 31164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Paralelogramo 11">
            <a:extLst>
              <a:ext uri="{FF2B5EF4-FFF2-40B4-BE49-F238E27FC236}">
                <a16:creationId xmlns:a16="http://schemas.microsoft.com/office/drawing/2014/main" id="{E4E0C9DC-09CD-8847-DEF0-F292EEE7496C}"/>
              </a:ext>
            </a:extLst>
          </p:cNvPr>
          <p:cNvSpPr/>
          <p:nvPr/>
        </p:nvSpPr>
        <p:spPr>
          <a:xfrm>
            <a:off x="2352502" y="4023361"/>
            <a:ext cx="2718262" cy="773083"/>
          </a:xfrm>
          <a:prstGeom prst="parallelogram">
            <a:avLst>
              <a:gd name="adj" fmla="val 10160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1C9AD7B2-E1DB-BB3D-8EB2-E93C640A70FC}"/>
              </a:ext>
            </a:extLst>
          </p:cNvPr>
          <p:cNvSpPr/>
          <p:nvPr/>
        </p:nvSpPr>
        <p:spPr>
          <a:xfrm>
            <a:off x="2352502" y="3606968"/>
            <a:ext cx="2718262" cy="773083"/>
          </a:xfrm>
          <a:prstGeom prst="parallelogram">
            <a:avLst>
              <a:gd name="adj" fmla="val 10160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16C4671-5D4C-366E-EB2E-241BC5C37AEE}"/>
              </a:ext>
            </a:extLst>
          </p:cNvPr>
          <p:cNvSpPr txBox="1"/>
          <p:nvPr/>
        </p:nvSpPr>
        <p:spPr>
          <a:xfrm>
            <a:off x="5041213" y="3644271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/>
              <a:t>0.02 m</a:t>
            </a:r>
          </a:p>
        </p:txBody>
      </p:sp>
    </p:spTree>
    <p:extLst>
      <p:ext uri="{BB962C8B-B14F-4D97-AF65-F5344CB8AC3E}">
        <p14:creationId xmlns:p14="http://schemas.microsoft.com/office/powerpoint/2010/main" val="3542814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2487A0F-2F32-2A88-7FDC-AB5C39580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55" y="109103"/>
            <a:ext cx="4823894" cy="501594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9E666E4-7289-8896-EC64-B136FD7D13AF}"/>
              </a:ext>
            </a:extLst>
          </p:cNvPr>
          <p:cNvSpPr/>
          <p:nvPr/>
        </p:nvSpPr>
        <p:spPr>
          <a:xfrm>
            <a:off x="5985164" y="964277"/>
            <a:ext cx="714894" cy="14214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BEBE90F-1E73-2C7E-086F-40B0684E268B}"/>
              </a:ext>
            </a:extLst>
          </p:cNvPr>
          <p:cNvCxnSpPr>
            <a:cxnSpLocks/>
          </p:cNvCxnSpPr>
          <p:nvPr/>
        </p:nvCxnSpPr>
        <p:spPr>
          <a:xfrm flipV="1">
            <a:off x="6212378" y="2134825"/>
            <a:ext cx="0" cy="4322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9A4039B-4F15-4310-8A7E-AA9674DE3183}"/>
              </a:ext>
            </a:extLst>
          </p:cNvPr>
          <p:cNvCxnSpPr>
            <a:cxnSpLocks/>
          </p:cNvCxnSpPr>
          <p:nvPr/>
        </p:nvCxnSpPr>
        <p:spPr>
          <a:xfrm>
            <a:off x="6515793" y="2134825"/>
            <a:ext cx="0" cy="58546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127B5DE-283A-9B12-076B-940B29E9A054}"/>
              </a:ext>
            </a:extLst>
          </p:cNvPr>
          <p:cNvSpPr txBox="1"/>
          <p:nvPr/>
        </p:nvSpPr>
        <p:spPr>
          <a:xfrm>
            <a:off x="6192981" y="2693011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peso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C296AC4-709E-8F34-6EFF-C9AF56905FD9}"/>
              </a:ext>
            </a:extLst>
          </p:cNvPr>
          <p:cNvCxnSpPr>
            <a:cxnSpLocks/>
          </p:cNvCxnSpPr>
          <p:nvPr/>
        </p:nvCxnSpPr>
        <p:spPr>
          <a:xfrm flipV="1">
            <a:off x="6212378" y="1474005"/>
            <a:ext cx="0" cy="4322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2CD62452-4EE9-AD39-27C3-928D58AEDBAC}"/>
              </a:ext>
            </a:extLst>
          </p:cNvPr>
          <p:cNvCxnSpPr>
            <a:cxnSpLocks/>
          </p:cNvCxnSpPr>
          <p:nvPr/>
        </p:nvCxnSpPr>
        <p:spPr>
          <a:xfrm flipV="1">
            <a:off x="6192981" y="955964"/>
            <a:ext cx="0" cy="4322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49249FE-AD0A-811A-F16C-FD403202D57B}"/>
              </a:ext>
            </a:extLst>
          </p:cNvPr>
          <p:cNvSpPr txBox="1"/>
          <p:nvPr/>
        </p:nvSpPr>
        <p:spPr>
          <a:xfrm>
            <a:off x="5099000" y="996556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Empuje 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9EDBF1D-1E0A-214A-FBDE-93EFCC18409C}"/>
              </a:ext>
            </a:extLst>
          </p:cNvPr>
          <p:cNvSpPr txBox="1"/>
          <p:nvPr/>
        </p:nvSpPr>
        <p:spPr>
          <a:xfrm>
            <a:off x="5099000" y="1536163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Empuje B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6CF98E8-F7ED-D4AA-D171-BCBDC6624B6D}"/>
              </a:ext>
            </a:extLst>
          </p:cNvPr>
          <p:cNvSpPr txBox="1"/>
          <p:nvPr/>
        </p:nvSpPr>
        <p:spPr>
          <a:xfrm>
            <a:off x="5042196" y="2368355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Empuje C</a:t>
            </a:r>
          </a:p>
        </p:txBody>
      </p:sp>
      <p:graphicFrame>
        <p:nvGraphicFramePr>
          <p:cNvPr id="19" name="Objeto 18">
            <a:extLst>
              <a:ext uri="{FF2B5EF4-FFF2-40B4-BE49-F238E27FC236}">
                <a16:creationId xmlns:a16="http://schemas.microsoft.com/office/drawing/2014/main" id="{332156A6-ABA7-62CE-4AEC-B67297D2B3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8909992"/>
              </p:ext>
            </p:extLst>
          </p:nvPr>
        </p:nvGraphicFramePr>
        <p:xfrm>
          <a:off x="7603663" y="302542"/>
          <a:ext cx="2785572" cy="539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800" imgH="228600" progId="Equation.DSMT4">
                  <p:embed/>
                </p:oleObj>
              </mc:Choice>
              <mc:Fallback>
                <p:oleObj name="Equation" r:id="rId3" imgW="1180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03663" y="302542"/>
                        <a:ext cx="2785572" cy="5391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o 19">
            <a:extLst>
              <a:ext uri="{FF2B5EF4-FFF2-40B4-BE49-F238E27FC236}">
                <a16:creationId xmlns:a16="http://schemas.microsoft.com/office/drawing/2014/main" id="{30B6BF5B-09E0-958E-84FB-11CD0D06C7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817778"/>
              </p:ext>
            </p:extLst>
          </p:nvPr>
        </p:nvGraphicFramePr>
        <p:xfrm>
          <a:off x="7643026" y="1038659"/>
          <a:ext cx="2980825" cy="636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60440" imgH="482400" progId="Equation.DSMT4">
                  <p:embed/>
                </p:oleObj>
              </mc:Choice>
              <mc:Fallback>
                <p:oleObj name="Equation" r:id="rId5" imgW="22604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43026" y="1038659"/>
                        <a:ext cx="2980825" cy="6363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3CE3062-2A75-874B-C012-2076D37D23AD}"/>
              </a:ext>
            </a:extLst>
          </p:cNvPr>
          <p:cNvCxnSpPr/>
          <p:nvPr/>
        </p:nvCxnSpPr>
        <p:spPr>
          <a:xfrm>
            <a:off x="2975957" y="3020781"/>
            <a:ext cx="3075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B5ED913-0D3E-70C7-6CF4-9CC71B52AC59}"/>
              </a:ext>
            </a:extLst>
          </p:cNvPr>
          <p:cNvCxnSpPr>
            <a:cxnSpLocks/>
          </p:cNvCxnSpPr>
          <p:nvPr/>
        </p:nvCxnSpPr>
        <p:spPr>
          <a:xfrm>
            <a:off x="3133898" y="3020781"/>
            <a:ext cx="0" cy="4082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84E5C50-EFF0-E77F-F7B0-160F4D0C5AC5}"/>
              </a:ext>
            </a:extLst>
          </p:cNvPr>
          <p:cNvSpPr txBox="1"/>
          <p:nvPr/>
        </p:nvSpPr>
        <p:spPr>
          <a:xfrm>
            <a:off x="2749693" y="3086390"/>
            <a:ext cx="4299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/>
              <a:t>2 m</a:t>
            </a:r>
          </a:p>
        </p:txBody>
      </p:sp>
      <p:graphicFrame>
        <p:nvGraphicFramePr>
          <p:cNvPr id="27" name="Objeto 26">
            <a:extLst>
              <a:ext uri="{FF2B5EF4-FFF2-40B4-BE49-F238E27FC236}">
                <a16:creationId xmlns:a16="http://schemas.microsoft.com/office/drawing/2014/main" id="{478E91DA-55CD-19FA-8391-676AFDBA9D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483856"/>
              </p:ext>
            </p:extLst>
          </p:nvPr>
        </p:nvGraphicFramePr>
        <p:xfrm>
          <a:off x="7651750" y="1790700"/>
          <a:ext cx="2962275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47840" imgH="482400" progId="Equation.DSMT4">
                  <p:embed/>
                </p:oleObj>
              </mc:Choice>
              <mc:Fallback>
                <p:oleObj name="Equation" r:id="rId7" imgW="2247840" imgH="482400" progId="Equation.DSMT4">
                  <p:embed/>
                  <p:pic>
                    <p:nvPicPr>
                      <p:cNvPr id="20" name="Objeto 19">
                        <a:extLst>
                          <a:ext uri="{FF2B5EF4-FFF2-40B4-BE49-F238E27FC236}">
                            <a16:creationId xmlns:a16="http://schemas.microsoft.com/office/drawing/2014/main" id="{30B6BF5B-09E0-958E-84FB-11CD0D06C7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51750" y="1790700"/>
                        <a:ext cx="2962275" cy="636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to 27">
            <a:extLst>
              <a:ext uri="{FF2B5EF4-FFF2-40B4-BE49-F238E27FC236}">
                <a16:creationId xmlns:a16="http://schemas.microsoft.com/office/drawing/2014/main" id="{2C705BAB-1CC4-AD9F-E037-543E0B7C76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118637"/>
              </p:ext>
            </p:extLst>
          </p:nvPr>
        </p:nvGraphicFramePr>
        <p:xfrm>
          <a:off x="7651750" y="2617075"/>
          <a:ext cx="3028950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98600" imgH="482400" progId="Equation.DSMT4">
                  <p:embed/>
                </p:oleObj>
              </mc:Choice>
              <mc:Fallback>
                <p:oleObj name="Equation" r:id="rId9" imgW="2298600" imgH="482400" progId="Equation.DSMT4">
                  <p:embed/>
                  <p:pic>
                    <p:nvPicPr>
                      <p:cNvPr id="27" name="Objeto 26">
                        <a:extLst>
                          <a:ext uri="{FF2B5EF4-FFF2-40B4-BE49-F238E27FC236}">
                            <a16:creationId xmlns:a16="http://schemas.microsoft.com/office/drawing/2014/main" id="{478E91DA-55CD-19FA-8391-676AFDBA9D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51750" y="2617075"/>
                        <a:ext cx="3028950" cy="636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to 28">
            <a:extLst>
              <a:ext uri="{FF2B5EF4-FFF2-40B4-BE49-F238E27FC236}">
                <a16:creationId xmlns:a16="http://schemas.microsoft.com/office/drawing/2014/main" id="{96CF2BD6-BADA-EB3E-3492-E2A627E030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25173"/>
              </p:ext>
            </p:extLst>
          </p:nvPr>
        </p:nvGraphicFramePr>
        <p:xfrm>
          <a:off x="6700058" y="3368239"/>
          <a:ext cx="4239918" cy="1681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74560" imgH="939600" progId="Equation.DSMT4">
                  <p:embed/>
                </p:oleObj>
              </mc:Choice>
              <mc:Fallback>
                <p:oleObj name="Equation" r:id="rId11" imgW="2374560" imgH="939600" progId="Equation.DSMT4">
                  <p:embed/>
                  <p:pic>
                    <p:nvPicPr>
                      <p:cNvPr id="19" name="Objeto 18">
                        <a:extLst>
                          <a:ext uri="{FF2B5EF4-FFF2-40B4-BE49-F238E27FC236}">
                            <a16:creationId xmlns:a16="http://schemas.microsoft.com/office/drawing/2014/main" id="{332156A6-ABA7-62CE-4AEC-B67297D2B3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00058" y="3368239"/>
                        <a:ext cx="4239918" cy="1681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to 29">
            <a:extLst>
              <a:ext uri="{FF2B5EF4-FFF2-40B4-BE49-F238E27FC236}">
                <a16:creationId xmlns:a16="http://schemas.microsoft.com/office/drawing/2014/main" id="{1F1A20EE-19EC-6A07-B000-65E8263449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752365"/>
              </p:ext>
            </p:extLst>
          </p:nvPr>
        </p:nvGraphicFramePr>
        <p:xfrm>
          <a:off x="3784743" y="5341273"/>
          <a:ext cx="481647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263760" imgH="749160" progId="Equation.DSMT4">
                  <p:embed/>
                </p:oleObj>
              </mc:Choice>
              <mc:Fallback>
                <p:oleObj name="Equation" r:id="rId13" imgW="3263760" imgH="749160" progId="Equation.DSMT4">
                  <p:embed/>
                  <p:pic>
                    <p:nvPicPr>
                      <p:cNvPr id="23" name="Objeto 22">
                        <a:extLst>
                          <a:ext uri="{FF2B5EF4-FFF2-40B4-BE49-F238E27FC236}">
                            <a16:creationId xmlns:a16="http://schemas.microsoft.com/office/drawing/2014/main" id="{8EAF9C5A-6D1F-3048-5D85-C73F8FF418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84743" y="5341273"/>
                        <a:ext cx="4816475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5704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8DAB1BE-5901-947C-D55D-671673AB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28"/>
          <a:stretch>
            <a:fillRect/>
          </a:stretch>
        </p:blipFill>
        <p:spPr>
          <a:xfrm>
            <a:off x="416416" y="290944"/>
            <a:ext cx="8070879" cy="3192063"/>
          </a:xfrm>
          <a:prstGeom prst="rect">
            <a:avLst/>
          </a:prstGeom>
        </p:spPr>
      </p:pic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54D3E44C-E9EE-78AA-9B86-5D0A8D9F3C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735062"/>
              </p:ext>
            </p:extLst>
          </p:nvPr>
        </p:nvGraphicFramePr>
        <p:xfrm>
          <a:off x="8114723" y="103707"/>
          <a:ext cx="3562250" cy="1259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98600" imgH="812520" progId="Equation.DSMT4">
                  <p:embed/>
                </p:oleObj>
              </mc:Choice>
              <mc:Fallback>
                <p:oleObj name="Equation" r:id="rId3" imgW="22986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14723" y="103707"/>
                        <a:ext cx="3562250" cy="1259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27319DD8-A8D6-C1F4-2317-732DBF699EE6}"/>
              </a:ext>
            </a:extLst>
          </p:cNvPr>
          <p:cNvSpPr txBox="1"/>
          <p:nvPr/>
        </p:nvSpPr>
        <p:spPr>
          <a:xfrm>
            <a:off x="6035040" y="145472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B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C85CB46-6C3C-EE44-B50E-F66CEFF554E9}"/>
              </a:ext>
            </a:extLst>
          </p:cNvPr>
          <p:cNvCxnSpPr>
            <a:cxnSpLocks/>
          </p:cNvCxnSpPr>
          <p:nvPr/>
        </p:nvCxnSpPr>
        <p:spPr>
          <a:xfrm>
            <a:off x="4821381" y="1481449"/>
            <a:ext cx="24273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4C4EEF73-6BCF-5DDB-FB92-2F0BE15D72FB}"/>
              </a:ext>
            </a:extLst>
          </p:cNvPr>
          <p:cNvSpPr txBox="1"/>
          <p:nvPr/>
        </p:nvSpPr>
        <p:spPr>
          <a:xfrm>
            <a:off x="7248698" y="1296783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NR</a:t>
            </a:r>
          </a:p>
        </p:txBody>
      </p:sp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D5105C56-256B-93ED-17A7-6F08C1DF75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928146"/>
              </p:ext>
            </p:extLst>
          </p:nvPr>
        </p:nvGraphicFramePr>
        <p:xfrm>
          <a:off x="276655" y="3085625"/>
          <a:ext cx="4429125" cy="255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57320" imgH="1650960" progId="Equation.DSMT4">
                  <p:embed/>
                </p:oleObj>
              </mc:Choice>
              <mc:Fallback>
                <p:oleObj name="Equation" r:id="rId5" imgW="2857320" imgH="1650960" progId="Equation.DSMT4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54D3E44C-E9EE-78AA-9B86-5D0A8D9F3C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6655" y="3085625"/>
                        <a:ext cx="4429125" cy="2555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F709CD14-1B5A-BFDD-A6B1-22B9F5B40B33}"/>
              </a:ext>
            </a:extLst>
          </p:cNvPr>
          <p:cNvSpPr txBox="1"/>
          <p:nvPr/>
        </p:nvSpPr>
        <p:spPr>
          <a:xfrm>
            <a:off x="5396126" y="3344507"/>
            <a:ext cx="66192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err="1"/>
              <a:t>v</a:t>
            </a:r>
            <a:r>
              <a:rPr lang="es-PE" baseline="-25000" dirty="0" err="1"/>
              <a:t>A</a:t>
            </a:r>
            <a:r>
              <a:rPr lang="es-PE" dirty="0"/>
              <a:t> es aproximadamente cero, por el área grande del tanque, no se nota como baja el nivel del agua</a:t>
            </a:r>
          </a:p>
          <a:p>
            <a:r>
              <a:rPr lang="es-PE" dirty="0" err="1"/>
              <a:t>h</a:t>
            </a:r>
            <a:r>
              <a:rPr lang="es-PE" baseline="-25000" dirty="0" err="1"/>
              <a:t>B</a:t>
            </a:r>
            <a:r>
              <a:rPr lang="es-PE" dirty="0"/>
              <a:t> es cero, por elegir el sistema de referencia que pase por B</a:t>
            </a:r>
          </a:p>
          <a:p>
            <a:r>
              <a:rPr lang="es-PE" dirty="0"/>
              <a:t>La presión manométrica en B es cero, por no existir ningún fluidos que ejerza presión en B.</a:t>
            </a:r>
          </a:p>
        </p:txBody>
      </p:sp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D3799BD8-5C54-29F4-A6A7-2005765E2A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345471"/>
              </p:ext>
            </p:extLst>
          </p:nvPr>
        </p:nvGraphicFramePr>
        <p:xfrm>
          <a:off x="244475" y="5791200"/>
          <a:ext cx="47910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55800" imgH="279360" progId="Equation.DSMT4">
                  <p:embed/>
                </p:oleObj>
              </mc:Choice>
              <mc:Fallback>
                <p:oleObj name="Equation" r:id="rId7" imgW="27558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4475" y="5791200"/>
                        <a:ext cx="4791075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1B09E979-8A03-6288-02BE-DDAC59744714}"/>
              </a:ext>
            </a:extLst>
          </p:cNvPr>
          <p:cNvSpPr txBox="1"/>
          <p:nvPr/>
        </p:nvSpPr>
        <p:spPr>
          <a:xfrm>
            <a:off x="5472226" y="2645232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(0, 0) </a:t>
            </a:r>
          </a:p>
        </p:txBody>
      </p:sp>
      <p:graphicFrame>
        <p:nvGraphicFramePr>
          <p:cNvPr id="13" name="Objeto 12">
            <a:extLst>
              <a:ext uri="{FF2B5EF4-FFF2-40B4-BE49-F238E27FC236}">
                <a16:creationId xmlns:a16="http://schemas.microsoft.com/office/drawing/2014/main" id="{914DAF9D-6999-946E-8044-944E64BD19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249562"/>
              </p:ext>
            </p:extLst>
          </p:nvPr>
        </p:nvGraphicFramePr>
        <p:xfrm>
          <a:off x="5596382" y="4938281"/>
          <a:ext cx="42799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03160" imgH="990360" progId="Equation.DSMT4">
                  <p:embed/>
                </p:oleObj>
              </mc:Choice>
              <mc:Fallback>
                <p:oleObj name="Equation" r:id="rId9" imgW="2603160" imgH="990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96382" y="4938281"/>
                        <a:ext cx="4279900" cy="162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F59E7A74-F3A6-AC20-1C90-FB9456EBD3B8}"/>
              </a:ext>
            </a:extLst>
          </p:cNvPr>
          <p:cNvSpPr txBox="1"/>
          <p:nvPr/>
        </p:nvSpPr>
        <p:spPr>
          <a:xfrm>
            <a:off x="5145510" y="1469956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(0, 4.90)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D59ECFD-2C2A-2852-A206-6B7CE79C33B8}"/>
              </a:ext>
            </a:extLst>
          </p:cNvPr>
          <p:cNvSpPr txBox="1"/>
          <p:nvPr/>
        </p:nvSpPr>
        <p:spPr>
          <a:xfrm>
            <a:off x="7595991" y="2752277"/>
            <a:ext cx="751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(D, 0) </a:t>
            </a:r>
          </a:p>
        </p:txBody>
      </p:sp>
    </p:spTree>
    <p:extLst>
      <p:ext uri="{BB962C8B-B14F-4D97-AF65-F5344CB8AC3E}">
        <p14:creationId xmlns:p14="http://schemas.microsoft.com/office/powerpoint/2010/main" val="3838471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92FDC83-9766-94A9-0DBD-C37A0C3E7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6" y="91288"/>
            <a:ext cx="9005559" cy="2857011"/>
          </a:xfrm>
          <a:prstGeom prst="rect">
            <a:avLst/>
          </a:prstGeom>
        </p:spPr>
      </p:pic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51CC460C-3016-9874-D8E1-09F634ABDC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346840"/>
              </p:ext>
            </p:extLst>
          </p:nvPr>
        </p:nvGraphicFramePr>
        <p:xfrm>
          <a:off x="8930355" y="162370"/>
          <a:ext cx="3164749" cy="1119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98600" imgH="812520" progId="Equation.DSMT4">
                  <p:embed/>
                </p:oleObj>
              </mc:Choice>
              <mc:Fallback>
                <p:oleObj name="Equation" r:id="rId3" imgW="2298600" imgH="812520" progId="Equation.DSMT4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54D3E44C-E9EE-78AA-9B86-5D0A8D9F3C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30355" y="162370"/>
                        <a:ext cx="3164749" cy="11190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C5ED1AE-D38B-AE22-D284-E9AF7C81AB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2801858"/>
              </p:ext>
            </p:extLst>
          </p:nvPr>
        </p:nvGraphicFramePr>
        <p:xfrm>
          <a:off x="520760" y="3091411"/>
          <a:ext cx="4881563" cy="357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49280" imgH="2311200" progId="Equation.DSMT4">
                  <p:embed/>
                </p:oleObj>
              </mc:Choice>
              <mc:Fallback>
                <p:oleObj name="Equation" r:id="rId5" imgW="3149280" imgH="2311200" progId="Equation.DSMT4">
                  <p:embed/>
                  <p:pic>
                    <p:nvPicPr>
                      <p:cNvPr id="9" name="Objeto 8">
                        <a:extLst>
                          <a:ext uri="{FF2B5EF4-FFF2-40B4-BE49-F238E27FC236}">
                            <a16:creationId xmlns:a16="http://schemas.microsoft.com/office/drawing/2014/main" id="{D5105C56-256B-93ED-17A7-6F08C1DF75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0760" y="3091411"/>
                        <a:ext cx="4881563" cy="3578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B79FCB6D-854A-61E1-B346-6784F9D228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373819"/>
              </p:ext>
            </p:extLst>
          </p:nvPr>
        </p:nvGraphicFramePr>
        <p:xfrm>
          <a:off x="10058267" y="2154549"/>
          <a:ext cx="1655760" cy="793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52200" imgH="457200" progId="Equation.DSMT4">
                  <p:embed/>
                </p:oleObj>
              </mc:Choice>
              <mc:Fallback>
                <p:oleObj name="Equation" r:id="rId7" imgW="952200" imgH="457200" progId="Equation.DSMT4">
                  <p:embed/>
                  <p:pic>
                    <p:nvPicPr>
                      <p:cNvPr id="11" name="Objeto 10">
                        <a:extLst>
                          <a:ext uri="{FF2B5EF4-FFF2-40B4-BE49-F238E27FC236}">
                            <a16:creationId xmlns:a16="http://schemas.microsoft.com/office/drawing/2014/main" id="{D3799BD8-5C54-29F4-A6A7-2005765E2A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058267" y="2154549"/>
                        <a:ext cx="1655760" cy="7937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67925876-8B4E-633C-F3FA-040CE81DBD46}"/>
              </a:ext>
            </a:extLst>
          </p:cNvPr>
          <p:cNvSpPr txBox="1"/>
          <p:nvPr/>
        </p:nvSpPr>
        <p:spPr>
          <a:xfrm>
            <a:off x="7554632" y="128139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B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61CD655-C333-E4AD-291C-EDFF031F1873}"/>
              </a:ext>
            </a:extLst>
          </p:cNvPr>
          <p:cNvCxnSpPr>
            <a:cxnSpLocks/>
          </p:cNvCxnSpPr>
          <p:nvPr/>
        </p:nvCxnSpPr>
        <p:spPr>
          <a:xfrm>
            <a:off x="7716696" y="2054018"/>
            <a:ext cx="24273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D2C0077E-3FF4-7DF1-CDD0-72B5BC8151A9}"/>
              </a:ext>
            </a:extLst>
          </p:cNvPr>
          <p:cNvSpPr txBox="1"/>
          <p:nvPr/>
        </p:nvSpPr>
        <p:spPr>
          <a:xfrm>
            <a:off x="8930355" y="1484791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NR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A02EE5A-BB27-E14B-0D8E-BB8C879F2594}"/>
              </a:ext>
            </a:extLst>
          </p:cNvPr>
          <p:cNvSpPr/>
          <p:nvPr/>
        </p:nvSpPr>
        <p:spPr>
          <a:xfrm>
            <a:off x="7563178" y="1582657"/>
            <a:ext cx="72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710DED3-07DE-D56D-80B8-7E0A09FF7E6F}"/>
              </a:ext>
            </a:extLst>
          </p:cNvPr>
          <p:cNvSpPr txBox="1"/>
          <p:nvPr/>
        </p:nvSpPr>
        <p:spPr>
          <a:xfrm>
            <a:off x="6443679" y="343533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A</a:t>
            </a:r>
          </a:p>
        </p:txBody>
      </p:sp>
      <p:graphicFrame>
        <p:nvGraphicFramePr>
          <p:cNvPr id="13" name="Objeto 12">
            <a:extLst>
              <a:ext uri="{FF2B5EF4-FFF2-40B4-BE49-F238E27FC236}">
                <a16:creationId xmlns:a16="http://schemas.microsoft.com/office/drawing/2014/main" id="{0BC3F1A0-64B7-9A2B-5AED-592F24B6A8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244829"/>
              </p:ext>
            </p:extLst>
          </p:nvPr>
        </p:nvGraphicFramePr>
        <p:xfrm>
          <a:off x="6443679" y="3646568"/>
          <a:ext cx="42799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03160" imgH="990360" progId="Equation.DSMT4">
                  <p:embed/>
                </p:oleObj>
              </mc:Choice>
              <mc:Fallback>
                <p:oleObj name="Equation" r:id="rId9" imgW="2603160" imgH="990360" progId="Equation.DSMT4">
                  <p:embed/>
                  <p:pic>
                    <p:nvPicPr>
                      <p:cNvPr id="13" name="Objeto 12">
                        <a:extLst>
                          <a:ext uri="{FF2B5EF4-FFF2-40B4-BE49-F238E27FC236}">
                            <a16:creationId xmlns:a16="http://schemas.microsoft.com/office/drawing/2014/main" id="{914DAF9D-6999-946E-8044-944E64BD19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43679" y="3646568"/>
                        <a:ext cx="4279900" cy="162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1211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lindro 3">
            <a:extLst>
              <a:ext uri="{FF2B5EF4-FFF2-40B4-BE49-F238E27FC236}">
                <a16:creationId xmlns:a16="http://schemas.microsoft.com/office/drawing/2014/main" id="{D2719735-94BB-977B-E3F3-EBB8B74A9518}"/>
              </a:ext>
            </a:extLst>
          </p:cNvPr>
          <p:cNvSpPr/>
          <p:nvPr/>
        </p:nvSpPr>
        <p:spPr>
          <a:xfrm>
            <a:off x="1795549" y="2086495"/>
            <a:ext cx="1961804" cy="2743200"/>
          </a:xfrm>
          <a:prstGeom prst="can">
            <a:avLst>
              <a:gd name="adj" fmla="val 678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ilindro 4">
            <a:extLst>
              <a:ext uri="{FF2B5EF4-FFF2-40B4-BE49-F238E27FC236}">
                <a16:creationId xmlns:a16="http://schemas.microsoft.com/office/drawing/2014/main" id="{ECFAAE01-F3AA-10F4-0068-159ACB1EF928}"/>
              </a:ext>
            </a:extLst>
          </p:cNvPr>
          <p:cNvSpPr/>
          <p:nvPr/>
        </p:nvSpPr>
        <p:spPr>
          <a:xfrm>
            <a:off x="1795549" y="2086495"/>
            <a:ext cx="1961804" cy="282632"/>
          </a:xfrm>
          <a:prstGeom prst="can">
            <a:avLst>
              <a:gd name="adj" fmla="val 33250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ilindro 5">
            <a:extLst>
              <a:ext uri="{FF2B5EF4-FFF2-40B4-BE49-F238E27FC236}">
                <a16:creationId xmlns:a16="http://schemas.microsoft.com/office/drawing/2014/main" id="{39EF9A0D-08A9-4A85-9F16-C5E85C769F42}"/>
              </a:ext>
            </a:extLst>
          </p:cNvPr>
          <p:cNvSpPr/>
          <p:nvPr/>
        </p:nvSpPr>
        <p:spPr>
          <a:xfrm>
            <a:off x="5503024" y="2352502"/>
            <a:ext cx="299259" cy="2477193"/>
          </a:xfrm>
          <a:prstGeom prst="can">
            <a:avLst>
              <a:gd name="adj" fmla="val 678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Cilindro 6">
            <a:extLst>
              <a:ext uri="{FF2B5EF4-FFF2-40B4-BE49-F238E27FC236}">
                <a16:creationId xmlns:a16="http://schemas.microsoft.com/office/drawing/2014/main" id="{E5F6F923-37F6-2224-43D0-963B033DEF9C}"/>
              </a:ext>
            </a:extLst>
          </p:cNvPr>
          <p:cNvSpPr/>
          <p:nvPr/>
        </p:nvSpPr>
        <p:spPr>
          <a:xfrm>
            <a:off x="5503024" y="2352502"/>
            <a:ext cx="299259" cy="184666"/>
          </a:xfrm>
          <a:prstGeom prst="can">
            <a:avLst>
              <a:gd name="adj" fmla="val 9720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2E7AD33-6677-B4B9-8621-F5A3BD14ED1E}"/>
              </a:ext>
            </a:extLst>
          </p:cNvPr>
          <p:cNvSpPr/>
          <p:nvPr/>
        </p:nvSpPr>
        <p:spPr>
          <a:xfrm>
            <a:off x="3142211" y="3865418"/>
            <a:ext cx="2502131" cy="96427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9245790-806A-846B-253A-4F45142B31A0}"/>
              </a:ext>
            </a:extLst>
          </p:cNvPr>
          <p:cNvSpPr/>
          <p:nvPr/>
        </p:nvSpPr>
        <p:spPr>
          <a:xfrm>
            <a:off x="3017522" y="3749039"/>
            <a:ext cx="723207" cy="106403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04FE0F3-6615-8960-33FE-2A5634F94125}"/>
              </a:ext>
            </a:extLst>
          </p:cNvPr>
          <p:cNvSpPr/>
          <p:nvPr/>
        </p:nvSpPr>
        <p:spPr>
          <a:xfrm>
            <a:off x="5519650" y="3757352"/>
            <a:ext cx="157940" cy="106403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D970AF9A-F4F0-C73E-9BA5-AD0AA9BF7FFF}"/>
              </a:ext>
            </a:extLst>
          </p:cNvPr>
          <p:cNvCxnSpPr>
            <a:cxnSpLocks/>
          </p:cNvCxnSpPr>
          <p:nvPr/>
        </p:nvCxnSpPr>
        <p:spPr>
          <a:xfrm flipH="1">
            <a:off x="5631871" y="1886989"/>
            <a:ext cx="12471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2D956FA-BE00-4168-92F8-98AE57DDF0D9}"/>
              </a:ext>
            </a:extLst>
          </p:cNvPr>
          <p:cNvSpPr txBox="1"/>
          <p:nvPr/>
        </p:nvSpPr>
        <p:spPr>
          <a:xfrm>
            <a:off x="5116976" y="2159523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A</a:t>
            </a:r>
            <a:r>
              <a:rPr lang="es-PE" baseline="-25000" dirty="0"/>
              <a:t>1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BD109D4-1C6E-8D74-BB9A-D2DE65E7E9B4}"/>
              </a:ext>
            </a:extLst>
          </p:cNvPr>
          <p:cNvSpPr txBox="1"/>
          <p:nvPr/>
        </p:nvSpPr>
        <p:spPr>
          <a:xfrm>
            <a:off x="5677590" y="1642348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F</a:t>
            </a:r>
            <a:r>
              <a:rPr lang="es-PE" baseline="-25000" dirty="0"/>
              <a:t>1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FA4E574-93FC-E0F0-F5E0-0F7584028083}"/>
              </a:ext>
            </a:extLst>
          </p:cNvPr>
          <p:cNvCxnSpPr>
            <a:cxnSpLocks/>
          </p:cNvCxnSpPr>
          <p:nvPr/>
        </p:nvCxnSpPr>
        <p:spPr>
          <a:xfrm flipH="1" flipV="1">
            <a:off x="2826326" y="2736073"/>
            <a:ext cx="12471" cy="19534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14841E4-4205-9C8C-98BE-C12B68303305}"/>
              </a:ext>
            </a:extLst>
          </p:cNvPr>
          <p:cNvSpPr txBox="1"/>
          <p:nvPr/>
        </p:nvSpPr>
        <p:spPr>
          <a:xfrm>
            <a:off x="2345788" y="2736073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F</a:t>
            </a:r>
            <a:r>
              <a:rPr lang="es-PE" baseline="-25000" dirty="0"/>
              <a:t>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9954BD8-FFE6-27CC-086B-0D913E849359}"/>
              </a:ext>
            </a:extLst>
          </p:cNvPr>
          <p:cNvSpPr txBox="1"/>
          <p:nvPr/>
        </p:nvSpPr>
        <p:spPr>
          <a:xfrm>
            <a:off x="1405346" y="1999795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A</a:t>
            </a:r>
            <a:r>
              <a:rPr lang="es-PE" baseline="-25000" dirty="0"/>
              <a:t>2</a:t>
            </a:r>
          </a:p>
        </p:txBody>
      </p:sp>
      <p:sp>
        <p:nvSpPr>
          <p:cNvPr id="22" name="Cilindro 21">
            <a:extLst>
              <a:ext uri="{FF2B5EF4-FFF2-40B4-BE49-F238E27FC236}">
                <a16:creationId xmlns:a16="http://schemas.microsoft.com/office/drawing/2014/main" id="{AAF3B214-BF21-1FE3-4FC3-4D01E877371B}"/>
              </a:ext>
            </a:extLst>
          </p:cNvPr>
          <p:cNvSpPr/>
          <p:nvPr/>
        </p:nvSpPr>
        <p:spPr>
          <a:xfrm>
            <a:off x="5519647" y="3304309"/>
            <a:ext cx="299259" cy="184666"/>
          </a:xfrm>
          <a:prstGeom prst="can">
            <a:avLst>
              <a:gd name="adj" fmla="val 9720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FDD6635-3A38-AB35-4B39-31E29D2A52BA}"/>
              </a:ext>
            </a:extLst>
          </p:cNvPr>
          <p:cNvSpPr txBox="1"/>
          <p:nvPr/>
        </p:nvSpPr>
        <p:spPr>
          <a:xfrm>
            <a:off x="5818906" y="2736073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l</a:t>
            </a:r>
            <a:r>
              <a:rPr lang="es-PE" baseline="-25000" dirty="0"/>
              <a:t>1</a:t>
            </a:r>
          </a:p>
        </p:txBody>
      </p:sp>
      <p:sp>
        <p:nvSpPr>
          <p:cNvPr id="24" name="Cilindro 23">
            <a:extLst>
              <a:ext uri="{FF2B5EF4-FFF2-40B4-BE49-F238E27FC236}">
                <a16:creationId xmlns:a16="http://schemas.microsoft.com/office/drawing/2014/main" id="{866D04FD-D7F1-17E3-2268-D3EE63767C03}"/>
              </a:ext>
            </a:extLst>
          </p:cNvPr>
          <p:cNvSpPr/>
          <p:nvPr/>
        </p:nvSpPr>
        <p:spPr>
          <a:xfrm>
            <a:off x="1795549" y="2227811"/>
            <a:ext cx="1961804" cy="282632"/>
          </a:xfrm>
          <a:prstGeom prst="can">
            <a:avLst>
              <a:gd name="adj" fmla="val 33250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2C03006-F44F-E4DB-64A2-75BFD1A07A80}"/>
              </a:ext>
            </a:extLst>
          </p:cNvPr>
          <p:cNvSpPr txBox="1"/>
          <p:nvPr/>
        </p:nvSpPr>
        <p:spPr>
          <a:xfrm>
            <a:off x="3755546" y="206747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l</a:t>
            </a:r>
            <a:r>
              <a:rPr lang="es-PE" baseline="-25000" dirty="0"/>
              <a:t>2</a:t>
            </a:r>
          </a:p>
        </p:txBody>
      </p:sp>
      <p:graphicFrame>
        <p:nvGraphicFramePr>
          <p:cNvPr id="26" name="Objeto 25">
            <a:extLst>
              <a:ext uri="{FF2B5EF4-FFF2-40B4-BE49-F238E27FC236}">
                <a16:creationId xmlns:a16="http://schemas.microsoft.com/office/drawing/2014/main" id="{0A6A8B2B-EF50-865D-9C6D-81C7C049AF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765539"/>
              </p:ext>
            </p:extLst>
          </p:nvPr>
        </p:nvGraphicFramePr>
        <p:xfrm>
          <a:off x="7489075" y="279660"/>
          <a:ext cx="3159190" cy="1125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4000" imgH="660240" progId="Equation.DSMT4">
                  <p:embed/>
                </p:oleObj>
              </mc:Choice>
              <mc:Fallback>
                <p:oleObj name="Equation" r:id="rId2" imgW="185400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489075" y="279660"/>
                        <a:ext cx="3159190" cy="1125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CuadroTexto 26">
            <a:extLst>
              <a:ext uri="{FF2B5EF4-FFF2-40B4-BE49-F238E27FC236}">
                <a16:creationId xmlns:a16="http://schemas.microsoft.com/office/drawing/2014/main" id="{A43604B3-CEF8-857E-7593-D4E8FA6C34F9}"/>
              </a:ext>
            </a:extLst>
          </p:cNvPr>
          <p:cNvSpPr txBox="1"/>
          <p:nvPr/>
        </p:nvSpPr>
        <p:spPr>
          <a:xfrm>
            <a:off x="6547659" y="1827014"/>
            <a:ext cx="53185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Si R</a:t>
            </a:r>
            <a:r>
              <a:rPr lang="es-PE" baseline="-25000" dirty="0"/>
              <a:t>1</a:t>
            </a:r>
            <a:r>
              <a:rPr lang="es-PE" dirty="0"/>
              <a:t> es 2 cm y F</a:t>
            </a:r>
            <a:r>
              <a:rPr lang="es-PE" baseline="-25000" dirty="0"/>
              <a:t>1</a:t>
            </a:r>
            <a:r>
              <a:rPr lang="es-PE" dirty="0"/>
              <a:t> = 100 N, si R</a:t>
            </a:r>
            <a:r>
              <a:rPr lang="es-PE" baseline="-25000" dirty="0"/>
              <a:t>2</a:t>
            </a:r>
            <a:r>
              <a:rPr lang="es-PE" dirty="0"/>
              <a:t> es 20 cm, calcule F</a:t>
            </a:r>
            <a:r>
              <a:rPr lang="es-PE" baseline="-25000" dirty="0"/>
              <a:t>2</a:t>
            </a:r>
          </a:p>
          <a:p>
            <a:r>
              <a:rPr lang="es-PE" dirty="0"/>
              <a:t>Si el embolo 1 se mueve 5 cm, ¿Cuánto se desplaza el embolo 2?</a:t>
            </a:r>
          </a:p>
        </p:txBody>
      </p:sp>
      <p:graphicFrame>
        <p:nvGraphicFramePr>
          <p:cNvPr id="28" name="Objeto 27">
            <a:extLst>
              <a:ext uri="{FF2B5EF4-FFF2-40B4-BE49-F238E27FC236}">
                <a16:creationId xmlns:a16="http://schemas.microsoft.com/office/drawing/2014/main" id="{036AFC43-3C16-055E-7576-300E2484F3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070826"/>
              </p:ext>
            </p:extLst>
          </p:nvPr>
        </p:nvGraphicFramePr>
        <p:xfrm>
          <a:off x="6753301" y="2920739"/>
          <a:ext cx="4630737" cy="324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17640" imgH="1904760" progId="Equation.DSMT4">
                  <p:embed/>
                </p:oleObj>
              </mc:Choice>
              <mc:Fallback>
                <p:oleObj name="Equation" r:id="rId4" imgW="2717640" imgH="1904760" progId="Equation.DSMT4">
                  <p:embed/>
                  <p:pic>
                    <p:nvPicPr>
                      <p:cNvPr id="26" name="Objeto 25">
                        <a:extLst>
                          <a:ext uri="{FF2B5EF4-FFF2-40B4-BE49-F238E27FC236}">
                            <a16:creationId xmlns:a16="http://schemas.microsoft.com/office/drawing/2014/main" id="{0A6A8B2B-EF50-865D-9C6D-81C7C049A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53301" y="2920739"/>
                        <a:ext cx="4630737" cy="324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8383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169</Words>
  <Application>Microsoft Office PowerPoint</Application>
  <PresentationFormat>Panorámica</PresentationFormat>
  <Paragraphs>46</Paragraphs>
  <Slides>12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MathType 7.0 Equation</vt:lpstr>
      <vt:lpstr>EXAMEN FINAL FÍSICA I PARA INGENIERÍA</vt:lpstr>
      <vt:lpstr>Presión en manómetros </vt:lpstr>
      <vt:lpstr>Presentación de PowerPoint</vt:lpstr>
      <vt:lpstr>Presentación de PowerPoint</vt:lpstr>
      <vt:lpstr>Presentación de PowerPoint</vt:lpstr>
      <vt:lpstr>Principio de Arquímedes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SANDOVAL CASAS, MARTIN BENEDICTO</dc:creator>
  <cp:lastModifiedBy>SANDOVAL CASAS, MARTIN BENEDICTO</cp:lastModifiedBy>
  <cp:revision>2</cp:revision>
  <dcterms:created xsi:type="dcterms:W3CDTF">2025-07-13T14:18:11Z</dcterms:created>
  <dcterms:modified xsi:type="dcterms:W3CDTF">2025-07-13T17:11:57Z</dcterms:modified>
</cp:coreProperties>
</file>